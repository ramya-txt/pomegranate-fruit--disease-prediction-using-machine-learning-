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399" r:id="rId3"/>
    <p:sldId id="400" r:id="rId4"/>
    <p:sldId id="259" r:id="rId5"/>
    <p:sldId id="412" r:id="rId6"/>
    <p:sldId id="410" r:id="rId7"/>
    <p:sldId id="419" r:id="rId8"/>
    <p:sldId id="376" r:id="rId9"/>
    <p:sldId id="392" r:id="rId10"/>
    <p:sldId id="408" r:id="rId11"/>
    <p:sldId id="409" r:id="rId12"/>
    <p:sldId id="28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51" d="100"/>
          <a:sy n="51" d="100"/>
        </p:scale>
        <p:origin x="1387"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t>2</a:t>
            </a:fld>
            <a:endParaRPr lang="en-IN">
              <a:solidFill>
                <a:srgbClr val="000000"/>
              </a:solidFill>
              <a:latin typeface="+mn-lt"/>
              <a:ea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4</a:t>
            </a:fld>
            <a:endParaRPr lang="en-IN">
              <a:solidFill>
                <a:srgbClr val="000000"/>
              </a:solidFill>
              <a:latin typeface="+mn-lt"/>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p>
          <a:p>
            <a:pPr lvl="1">
              <a:buSzPct val="75000"/>
              <a:buFont typeface="StarSymbol"/>
              <a:buChar char=""/>
            </a:pPr>
            <a:r>
              <a:rPr lang="en-IN"/>
              <a:t>Second Outline Level</a:t>
            </a:r>
          </a:p>
          <a:p>
            <a:pPr lvl="2">
              <a:buSzPct val="45000"/>
              <a:buFont typeface="StarSymbol"/>
              <a:buChar char=""/>
            </a:pPr>
            <a:r>
              <a:rPr lang="en-IN"/>
              <a:t>Third Outline Level</a:t>
            </a:r>
          </a:p>
          <a:p>
            <a:pPr lvl="3">
              <a:buSzPct val="75000"/>
              <a:buFont typeface="StarSymbol"/>
              <a:buChar char=""/>
            </a:pPr>
            <a:r>
              <a:rPr lang="en-IN"/>
              <a:t>Fourth Outline Level</a:t>
            </a:r>
          </a:p>
          <a:p>
            <a:pPr lvl="4">
              <a:buSzPct val="45000"/>
              <a:buFont typeface="StarSymbol"/>
              <a:buChar char=""/>
            </a:pPr>
            <a:r>
              <a:rPr lang="en-IN"/>
              <a:t>Fifth Outline Level</a:t>
            </a:r>
          </a:p>
          <a:p>
            <a:pPr lvl="5">
              <a:buSzPct val="45000"/>
              <a:buFont typeface="StarSymbol"/>
              <a:buChar char=""/>
            </a:pPr>
            <a:r>
              <a:rPr lang="en-IN"/>
              <a:t>Sixth Outline Level</a:t>
            </a:r>
          </a:p>
          <a:p>
            <a:pPr lvl="6">
              <a:buSzPct val="45000"/>
              <a:buFont typeface="StarSymbol"/>
              <a:buChar char=""/>
            </a:pPr>
            <a:r>
              <a:rPr lang="en-IN"/>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935" y="1601733"/>
            <a:ext cx="9144000" cy="1754326"/>
          </a:xfrm>
          <a:prstGeom prst="rect">
            <a:avLst/>
          </a:prstGeom>
          <a:noFill/>
        </p:spPr>
        <p:txBody>
          <a:bodyPr wrap="square" rtlCol="0">
            <a:spAutoFit/>
          </a:bodyPr>
          <a:lstStyle/>
          <a:p>
            <a:pPr algn="ctr"/>
            <a:r>
              <a:rPr lang="en-US" sz="3600" b="1" dirty="0">
                <a:ln w="1905"/>
                <a:effectLst>
                  <a:innerShdw blurRad="69850" dist="43180" dir="5400000">
                    <a:srgbClr val="000000">
                      <a:alpha val="65000"/>
                    </a:srgbClr>
                  </a:innerShdw>
                </a:effectLst>
              </a:rPr>
              <a:t>POMEGRANATE FRUIT DISEASE PREDICTION USING MACHINE LEARNING</a:t>
            </a:r>
          </a:p>
        </p:txBody>
      </p:sp>
      <p:sp>
        <p:nvSpPr>
          <p:cNvPr id="3" name="TextBox 2"/>
          <p:cNvSpPr txBox="1"/>
          <p:nvPr/>
        </p:nvSpPr>
        <p:spPr>
          <a:xfrm>
            <a:off x="5387196" y="3544788"/>
            <a:ext cx="5029200" cy="1323439"/>
          </a:xfrm>
          <a:prstGeom prst="rect">
            <a:avLst/>
          </a:prstGeom>
          <a:noFill/>
        </p:spPr>
        <p:txBody>
          <a:bodyPr wrap="square" rtlCol="0">
            <a:spAutoFit/>
          </a:bodyPr>
          <a:lstStyle/>
          <a:p>
            <a:r>
              <a:rPr lang="en-US" sz="2000" b="1" dirty="0">
                <a:solidFill>
                  <a:schemeClr val="tx2">
                    <a:lumMod val="75000"/>
                  </a:schemeClr>
                </a:solidFill>
              </a:rPr>
              <a:t>Name of the </a:t>
            </a:r>
            <a:r>
              <a:rPr lang="en-US" sz="2000" b="1" dirty="0" err="1">
                <a:solidFill>
                  <a:schemeClr val="tx2">
                    <a:lumMod val="75000"/>
                  </a:schemeClr>
                </a:solidFill>
              </a:rPr>
              <a:t>student&amp;Roll.No</a:t>
            </a:r>
            <a:endParaRPr lang="en-US" sz="2000" b="1" dirty="0">
              <a:solidFill>
                <a:schemeClr val="tx2">
                  <a:lumMod val="75000"/>
                </a:schemeClr>
              </a:solidFill>
            </a:endParaRPr>
          </a:p>
          <a:p>
            <a:r>
              <a:rPr lang="en-US" sz="2000" b="1" dirty="0">
                <a:solidFill>
                  <a:schemeClr val="tx2">
                    <a:lumMod val="75000"/>
                  </a:schemeClr>
                </a:solidFill>
              </a:rPr>
              <a:t>P. Ramya Sri - 20H51A0520</a:t>
            </a:r>
          </a:p>
          <a:p>
            <a:r>
              <a:rPr lang="en-US" sz="2000" b="1" dirty="0">
                <a:solidFill>
                  <a:schemeClr val="tx2">
                    <a:lumMod val="75000"/>
                  </a:schemeClr>
                </a:solidFill>
              </a:rPr>
              <a:t>T. </a:t>
            </a:r>
            <a:r>
              <a:rPr lang="en-US" sz="2000" b="1" dirty="0" err="1">
                <a:solidFill>
                  <a:schemeClr val="tx2">
                    <a:lumMod val="75000"/>
                  </a:schemeClr>
                </a:solidFill>
              </a:rPr>
              <a:t>Prabanith</a:t>
            </a:r>
            <a:r>
              <a:rPr lang="en-US" sz="2000" b="1" dirty="0">
                <a:solidFill>
                  <a:schemeClr val="tx2">
                    <a:lumMod val="75000"/>
                  </a:schemeClr>
                </a:solidFill>
              </a:rPr>
              <a:t> - 20H51A05A5</a:t>
            </a:r>
          </a:p>
          <a:p>
            <a:r>
              <a:rPr lang="en-US" sz="2000" b="1" dirty="0">
                <a:solidFill>
                  <a:schemeClr val="tx2">
                    <a:lumMod val="75000"/>
                  </a:schemeClr>
                </a:solidFill>
              </a:rPr>
              <a:t>P. Saraswathi - 21H55A0518</a:t>
            </a:r>
          </a:p>
        </p:txBody>
      </p:sp>
      <p:sp>
        <p:nvSpPr>
          <p:cNvPr id="4" name="TextBox 3"/>
          <p:cNvSpPr txBox="1"/>
          <p:nvPr/>
        </p:nvSpPr>
        <p:spPr>
          <a:xfrm>
            <a:off x="228600" y="4876800"/>
            <a:ext cx="5181600" cy="1014730"/>
          </a:xfrm>
          <a:prstGeom prst="rect">
            <a:avLst/>
          </a:prstGeom>
          <a:noFill/>
        </p:spPr>
        <p:txBody>
          <a:bodyPr wrap="square" rtlCol="0">
            <a:spAutoFit/>
          </a:bodyPr>
          <a:lstStyle/>
          <a:p>
            <a:pPr marR="64135" lvl="0">
              <a:lnSpc>
                <a:spcPct val="150000"/>
              </a:lnSpc>
              <a:spcBef>
                <a:spcPts val="400"/>
              </a:spcBef>
              <a:buClr>
                <a:schemeClr val="accent1"/>
              </a:buClr>
              <a:buSzPct val="68000"/>
              <a:defRPr/>
            </a:pPr>
            <a:r>
              <a:rPr lang="en-US" sz="2800" b="1" dirty="0">
                <a:solidFill>
                  <a:srgbClr val="C00000"/>
                </a:solidFill>
              </a:rPr>
              <a:t>Under esteemed guidance of</a:t>
            </a:r>
            <a:endParaRPr lang="en-US" sz="2400" b="1" dirty="0">
              <a:solidFill>
                <a:srgbClr val="C00000"/>
              </a:solidFill>
            </a:endParaRPr>
          </a:p>
          <a:p>
            <a:r>
              <a:rPr lang="en-US" b="1" dirty="0" err="1"/>
              <a:t>Dr.S.Kirubakaran</a:t>
            </a:r>
            <a:r>
              <a:rPr lang="en-US" b="1" dirty="0"/>
              <a:t>( Professor)</a:t>
            </a:r>
          </a:p>
        </p:txBody>
      </p:sp>
      <p:graphicFrame>
        <p:nvGraphicFramePr>
          <p:cNvPr id="5" name="Table 4"/>
          <p:cNvGraphicFramePr>
            <a:graphicFrameLocks noGrp="1"/>
          </p:cNvGraphicFramePr>
          <p:nvPr/>
        </p:nvGraphicFramePr>
        <p:xfrm>
          <a:off x="1524000" y="228600"/>
          <a:ext cx="6096000" cy="1255998"/>
        </p:xfrm>
        <a:graphic>
          <a:graphicData uri="http://schemas.openxmlformats.org/drawingml/2006/table">
            <a:tbl>
              <a:tblPr>
                <a:tableStyleId>{2D5ABB26-0587-4C30-8999-92F81FD0307C}</a:tableStyleId>
              </a:tblPr>
              <a:tblGrid>
                <a:gridCol w="6096000">
                  <a:extLst>
                    <a:ext uri="{9D8B030D-6E8A-4147-A177-3AD203B41FA5}">
                      <a16:colId xmlns:a16="http://schemas.microsoft.com/office/drawing/2014/main" val="20000"/>
                    </a:ext>
                  </a:extLst>
                </a:gridCol>
              </a:tblGrid>
              <a:tr h="0">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panose="020F0502020204030204"/>
                      </a:endParaRPr>
                    </a:p>
                  </a:txBody>
                  <a:tcPr marL="9199" marR="9199" marT="6133" marB="6133" anchor="b"/>
                </a:tc>
                <a:extLst>
                  <a:ext uri="{0D108BD9-81ED-4DB2-BD59-A6C34878D82A}">
                    <a16:rowId xmlns:a16="http://schemas.microsoft.com/office/drawing/2014/main" val="10000"/>
                  </a:ext>
                </a:extLst>
              </a:tr>
              <a:tr h="0">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1"/>
                  </a:ext>
                </a:extLst>
              </a:tr>
              <a:tr h="0">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609720" y="10158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345440" y="252095"/>
            <a:ext cx="8548370" cy="6376035"/>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pitchFamily="34" charset="0"/>
              </a:rPr>
              <a:t> </a:t>
            </a:r>
            <a:endParaRPr>
              <a:latin typeface="Arial Black" panose="020B0A04020102020204" pitchFamily="34" charset="0"/>
            </a:endParaRPr>
          </a:p>
        </p:txBody>
      </p:sp>
      <p:sp>
        <p:nvSpPr>
          <p:cNvPr id="84" name="CustomShape 3"/>
          <p:cNvSpPr/>
          <p:nvPr/>
        </p:nvSpPr>
        <p:spPr>
          <a:xfrm>
            <a:off x="685800" y="1295400"/>
            <a:ext cx="7619365" cy="4685030"/>
          </a:xfrm>
          <a:prstGeom prst="rect">
            <a:avLst/>
          </a:prstGeom>
        </p:spPr>
        <p:txBody>
          <a:bodyPr lIns="90000" tIns="45000" rIns="90000" bIns="45000"/>
          <a:lstStyle/>
          <a:p>
            <a:pPr marL="457200" indent="-457200">
              <a:lnSpc>
                <a:spcPct val="150000"/>
              </a:lnSpc>
              <a:buFont typeface="Arial" panose="020B0604020202020204" pitchFamily="34" charset="0"/>
              <a:buChar char="•"/>
            </a:pPr>
            <a:r>
              <a:rPr lang="en-IN" sz="2800"/>
              <a:t>Abstract</a:t>
            </a:r>
          </a:p>
          <a:p>
            <a:pPr marL="457200" indent="-457200">
              <a:lnSpc>
                <a:spcPct val="150000"/>
              </a:lnSpc>
              <a:buFont typeface="Arial" panose="020B0604020202020204" pitchFamily="34" charset="0"/>
              <a:buChar char="•"/>
            </a:pPr>
            <a:r>
              <a:rPr lang="en-IN" sz="2800"/>
              <a:t>Introduction</a:t>
            </a:r>
          </a:p>
          <a:p>
            <a:pPr marL="457200" indent="-457200">
              <a:lnSpc>
                <a:spcPct val="150000"/>
              </a:lnSpc>
              <a:buFont typeface="Arial" panose="020B0604020202020204" pitchFamily="34" charset="0"/>
              <a:buChar char="•"/>
            </a:pPr>
            <a:r>
              <a:rPr lang="en-US" sz="2800" dirty="0">
                <a:sym typeface="+mn-ea"/>
              </a:rPr>
              <a:t>L</a:t>
            </a:r>
            <a:r>
              <a:rPr lang="en-IN" altLang="en-US" sz="2800" dirty="0">
                <a:sym typeface="+mn-ea"/>
              </a:rPr>
              <a:t>iterature</a:t>
            </a:r>
            <a:r>
              <a:rPr lang="en-US" sz="2800" dirty="0">
                <a:sym typeface="+mn-ea"/>
              </a:rPr>
              <a:t> R</a:t>
            </a:r>
            <a:r>
              <a:rPr lang="en-IN" altLang="en-US" sz="2800" dirty="0">
                <a:sym typeface="+mn-ea"/>
              </a:rPr>
              <a:t>eview</a:t>
            </a:r>
            <a:endParaRPr lang="en-IN" sz="2800"/>
          </a:p>
          <a:p>
            <a:pPr marL="457200" indent="-457200">
              <a:lnSpc>
                <a:spcPct val="150000"/>
              </a:lnSpc>
              <a:buFont typeface="Arial" panose="020B0604020202020204" pitchFamily="34" charset="0"/>
              <a:buChar char="•"/>
            </a:pPr>
            <a:r>
              <a:rPr lang="en-IN" sz="2800"/>
              <a:t>Research Objectives</a:t>
            </a:r>
          </a:p>
          <a:p>
            <a:pPr marL="457200" indent="-457200">
              <a:lnSpc>
                <a:spcPct val="150000"/>
              </a:lnSpc>
              <a:buFont typeface="Arial" panose="020B0604020202020204" pitchFamily="34" charset="0"/>
              <a:buChar char="•"/>
            </a:pPr>
            <a:r>
              <a:rPr lang="en-IN" sz="2800"/>
              <a:t>Problem Definition</a:t>
            </a:r>
          </a:p>
          <a:p>
            <a:pPr marL="457200" indent="-457200">
              <a:lnSpc>
                <a:spcPct val="150000"/>
              </a:lnSpc>
              <a:buFont typeface="Arial" panose="020B0604020202020204" pitchFamily="34" charset="0"/>
              <a:buChar char="•"/>
            </a:pPr>
            <a:r>
              <a:rPr lang="en-IN" sz="2800"/>
              <a:t>conclusion</a:t>
            </a:r>
          </a:p>
          <a:p>
            <a:pPr marL="457200" indent="-457200">
              <a:lnSpc>
                <a:spcPct val="150000"/>
              </a:lnSpc>
              <a:buFont typeface="Arial" panose="020B0604020202020204" pitchFamily="34" charset="0"/>
              <a:buChar char="•"/>
            </a:pPr>
            <a:r>
              <a:rPr lang="en-IN" sz="2800"/>
              <a:t>References</a:t>
            </a:r>
          </a:p>
          <a:p>
            <a:pPr>
              <a:lnSpc>
                <a:spcPct val="150000"/>
              </a:lnSpc>
            </a:pPr>
            <a:endParaRPr lang="en-IN"/>
          </a:p>
          <a:p>
            <a:pPr>
              <a:lnSpc>
                <a:spcPct val="150000"/>
              </a:lnSpc>
            </a:pPr>
            <a:endParaRPr lang="en-IN"/>
          </a:p>
          <a:p>
            <a:pPr>
              <a:lnSpc>
                <a:spcPct val="150000"/>
              </a:lnSpc>
            </a:pPr>
            <a:endParaRPr lang="en-IN"/>
          </a:p>
          <a:p>
            <a:pPr>
              <a:lnSpc>
                <a:spcPct val="150000"/>
              </a:lnSpc>
            </a:pPr>
            <a:endParaRPr lang="en-IN"/>
          </a:p>
        </p:txBody>
      </p:sp>
      <p:sp>
        <p:nvSpPr>
          <p:cNvPr id="2" name="Text Box 1"/>
          <p:cNvSpPr txBox="1"/>
          <p:nvPr/>
        </p:nvSpPr>
        <p:spPr>
          <a:xfrm>
            <a:off x="609600" y="381000"/>
            <a:ext cx="4572000" cy="583565"/>
          </a:xfrm>
          <a:prstGeom prst="rect">
            <a:avLst/>
          </a:prstGeom>
          <a:noFill/>
        </p:spPr>
        <p:txBody>
          <a:bodyPr wrap="square" rtlCol="0" anchor="t">
            <a:spAutoFit/>
          </a:bodyPr>
          <a:lstStyle/>
          <a:p>
            <a:r>
              <a:rPr lang="en-IN" sz="3200" b="1" dirty="0">
                <a:solidFill>
                  <a:srgbClr val="000000"/>
                </a:solidFill>
                <a:latin typeface="Arial Black" panose="020B0A04020102020204" pitchFamily="34" charset="0"/>
                <a:sym typeface="+mn-ea"/>
              </a:rPr>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533400" y="545068"/>
            <a:ext cx="36576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ABSTRACT</a:t>
            </a:r>
          </a:p>
        </p:txBody>
      </p:sp>
      <p:sp>
        <p:nvSpPr>
          <p:cNvPr id="3" name="TextBox 2"/>
          <p:cNvSpPr txBox="1"/>
          <p:nvPr/>
        </p:nvSpPr>
        <p:spPr>
          <a:xfrm>
            <a:off x="381420" y="1219200"/>
            <a:ext cx="8456940" cy="5442516"/>
          </a:xfrm>
          <a:prstGeom prst="rect">
            <a:avLst/>
          </a:prstGeom>
          <a:noFill/>
        </p:spPr>
        <p:txBody>
          <a:bodyPr wrap="square">
            <a:spAutoFit/>
          </a:bodyPr>
          <a:lstStyle/>
          <a:p>
            <a:pPr algn="just">
              <a:lnSpc>
                <a:spcPct val="150000"/>
              </a:lnSpc>
            </a:pPr>
            <a:r>
              <a:rPr lang="en-US" sz="1800" dirty="0">
                <a:effectLst/>
                <a:latin typeface="+mj-lt"/>
                <a:ea typeface="Times New Roman" panose="02020603050405020304" pitchFamily="18" charset="0"/>
              </a:rPr>
              <a:t>In country like India, agriculture is the backbone of the overall GDP. Horticulture has become one of the important source of economy for the country and even the farmers. Farmers will face much losses because of the not identifying the diseases at early stage. Relying on pure naked-eye observation to detect and classify diseases can be expensive for various plant diseases such as Pomegranate. It poses a great threat to the agricultural sector by reducing the life of the plants. In Agriculture field also image processing plays a very important role in identifying any disease of the plant or in grading of the quality of the fruit. Identification of the plant diseases is the key to preventing the losses in the yield and quantity of the agricultural product. The studies of the plant diseases mean the studies of visually observable patterns seen on the plant. In this project, we have implemented the methods for the </a:t>
            </a:r>
            <a:r>
              <a:rPr lang="en-US" dirty="0">
                <a:latin typeface="+mj-lt"/>
                <a:ea typeface="Times New Roman" panose="02020603050405020304" pitchFamily="18" charset="0"/>
              </a:rPr>
              <a:t>prediction</a:t>
            </a:r>
            <a:r>
              <a:rPr lang="en-US" sz="1800" dirty="0">
                <a:effectLst/>
                <a:latin typeface="+mj-lt"/>
                <a:ea typeface="Times New Roman" panose="02020603050405020304" pitchFamily="18" charset="0"/>
              </a:rPr>
              <a:t> of Pomegranate fruit diseases using the images of the fruit.</a:t>
            </a:r>
            <a:endParaRPr lang="en-IN" sz="1600" dirty="0">
              <a:effectLst/>
              <a:latin typeface="+mj-lt"/>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Introduction</a:t>
            </a:r>
            <a:endParaRPr>
              <a:solidFill>
                <a:srgbClr val="C00000"/>
              </a:solidFill>
            </a:endParaRPr>
          </a:p>
        </p:txBody>
      </p:sp>
      <p:sp>
        <p:nvSpPr>
          <p:cNvPr id="5" name="TextBox 4"/>
          <p:cNvSpPr txBox="1"/>
          <p:nvPr/>
        </p:nvSpPr>
        <p:spPr>
          <a:xfrm>
            <a:off x="457200" y="1447800"/>
            <a:ext cx="8381160" cy="7289106"/>
          </a:xfrm>
          <a:prstGeom prst="rect">
            <a:avLst/>
          </a:prstGeom>
          <a:noFill/>
        </p:spPr>
        <p:txBody>
          <a:bodyPr wrap="square" rtlCol="0">
            <a:spAutoFit/>
          </a:bodyPr>
          <a:lstStyle/>
          <a:p>
            <a:pPr algn="just">
              <a:lnSpc>
                <a:spcPct val="150000"/>
              </a:lnSpc>
            </a:pPr>
            <a:r>
              <a:rPr lang="en-US" sz="1800" dirty="0">
                <a:effectLst/>
                <a:latin typeface="+mj-lt"/>
                <a:ea typeface="Times New Roman" panose="02020603050405020304" pitchFamily="18" charset="0"/>
              </a:rPr>
              <a:t>Pomegranate may be a fruit that grows with an awfully high yield in many nations of Asian countries and one in every one of the foremost profits gaining fruit within the market. However, because of numerous conditions, the plants are infected by numerous diseases that destroy the complete crop departure terribly less product yield. So, the work proposes a picture process and neural network strategies to agitate the most problems with Phytopathology, i.e. detection and classification of wellness. Pomegranate fruit is also attributed to the fact that. That </a:t>
            </a:r>
            <a:r>
              <a:rPr lang="en-US" sz="1800" dirty="0" err="1">
                <a:effectLst/>
                <a:latin typeface="+mj-lt"/>
                <a:ea typeface="Times New Roman" panose="02020603050405020304" pitchFamily="18" charset="0"/>
              </a:rPr>
              <a:t>leafs</a:t>
            </a:r>
            <a:r>
              <a:rPr lang="en-US" sz="1800" dirty="0">
                <a:effectLst/>
                <a:latin typeface="+mj-lt"/>
                <a:ea typeface="Times New Roman" panose="02020603050405020304" pitchFamily="18" charset="0"/>
              </a:rPr>
              <a:t> are affected by disease caused by plants and weather. These diseases are like blight microorganism, plant spots, seed places rot and leaf spot. The system uses some pictures for coaching, some for testing functions, and so on</a:t>
            </a:r>
          </a:p>
          <a:p>
            <a:pPr algn="just">
              <a:lnSpc>
                <a:spcPct val="150000"/>
              </a:lnSpc>
            </a:pPr>
            <a:endParaRPr lang="en-US" dirty="0">
              <a:latin typeface="+mj-lt"/>
            </a:endParaRPr>
          </a:p>
          <a:p>
            <a:pPr algn="just">
              <a:lnSpc>
                <a:spcPct val="150000"/>
              </a:lnSpc>
            </a:pPr>
            <a:endParaRPr lang="en-US" dirty="0">
              <a:latin typeface="+mj-lt"/>
            </a:endParaRPr>
          </a:p>
          <a:p>
            <a:pPr algn="just">
              <a:lnSpc>
                <a:spcPct val="150000"/>
              </a:lnSpc>
            </a:pPr>
            <a:endParaRPr lang="en-US" dirty="0">
              <a:latin typeface="+mj-lt"/>
            </a:endParaRPr>
          </a:p>
          <a:p>
            <a:pPr algn="just">
              <a:lnSpc>
                <a:spcPct val="150000"/>
              </a:lnSpc>
            </a:pPr>
            <a:endParaRPr lang="en-US" dirty="0">
              <a:latin typeface="+mj-lt"/>
            </a:endParaRPr>
          </a:p>
          <a:p>
            <a:pPr algn="just">
              <a:lnSpc>
                <a:spcPct val="150000"/>
              </a:lnSpc>
            </a:pPr>
            <a:endParaRPr lang="en-US" dirty="0">
              <a:latin typeface="+mj-lt"/>
            </a:endParaRPr>
          </a:p>
          <a:p>
            <a:endParaRPr lang="en-US"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897255" y="948055"/>
            <a:ext cx="5960745" cy="2665095"/>
          </a:xfrm>
          <a:prstGeom prst="rect">
            <a:avLst/>
          </a:prstGeom>
          <a:noFill/>
        </p:spPr>
        <p:txBody>
          <a:bodyPr wrap="square" rtlCol="0" anchor="t">
            <a:noAutofit/>
          </a:bodyPr>
          <a:lstStyle/>
          <a:p>
            <a:endParaRPr lang="en-US" sz="3200" dirty="0">
              <a:sym typeface="+mn-ea"/>
            </a:endParaRPr>
          </a:p>
          <a:p>
            <a:endParaRPr lang="en-US" sz="3200" dirty="0">
              <a:sym typeface="+mn-ea"/>
            </a:endParaRPr>
          </a:p>
          <a:p>
            <a:r>
              <a:rPr lang="en-US" sz="3200" dirty="0">
                <a:sym typeface="+mn-ea"/>
              </a:rPr>
              <a:t>LITERATURE REVIEW </a:t>
            </a:r>
          </a:p>
          <a:p>
            <a:endParaRPr lang="en-US" sz="3200" dirty="0">
              <a:sym typeface="+mn-ea"/>
            </a:endParaRPr>
          </a:p>
        </p:txBody>
      </p:sp>
      <p:sp>
        <p:nvSpPr>
          <p:cNvPr id="6" name="CustomShape 1"/>
          <p:cNvSpPr/>
          <p:nvPr/>
        </p:nvSpPr>
        <p:spPr>
          <a:xfrm>
            <a:off x="533400" y="2667000"/>
            <a:ext cx="8381365" cy="76200"/>
          </a:xfrm>
          <a:prstGeom prst="rect">
            <a:avLst/>
          </a:prstGeom>
          <a:solidFill>
            <a:srgbClr val="7030A0"/>
          </a:solidFill>
          <a:ln w="25560">
            <a:solidFill>
              <a:srgbClr val="3A5F8B"/>
            </a:solidFill>
            <a:round/>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1760" y="667385"/>
          <a:ext cx="8949055" cy="6160770"/>
        </p:xfrm>
        <a:graphic>
          <a:graphicData uri="http://schemas.openxmlformats.org/drawingml/2006/table">
            <a:tbl>
              <a:tblPr firstRow="1" bandRow="1">
                <a:solidFill>
                  <a:schemeClr val="bg1"/>
                </a:solidFill>
                <a:tableStyleId>{5C22544A-7EE6-4342-B048-85BDC9FD1C3A}</a:tableStyleId>
              </a:tblPr>
              <a:tblGrid>
                <a:gridCol w="403860">
                  <a:extLst>
                    <a:ext uri="{9D8B030D-6E8A-4147-A177-3AD203B41FA5}">
                      <a16:colId xmlns:a16="http://schemas.microsoft.com/office/drawing/2014/main" val="20000"/>
                    </a:ext>
                  </a:extLst>
                </a:gridCol>
                <a:gridCol w="2611120">
                  <a:extLst>
                    <a:ext uri="{9D8B030D-6E8A-4147-A177-3AD203B41FA5}">
                      <a16:colId xmlns:a16="http://schemas.microsoft.com/office/drawing/2014/main" val="20001"/>
                    </a:ext>
                  </a:extLst>
                </a:gridCol>
                <a:gridCol w="2965450">
                  <a:extLst>
                    <a:ext uri="{9D8B030D-6E8A-4147-A177-3AD203B41FA5}">
                      <a16:colId xmlns:a16="http://schemas.microsoft.com/office/drawing/2014/main" val="20002"/>
                    </a:ext>
                  </a:extLst>
                </a:gridCol>
                <a:gridCol w="1800860">
                  <a:extLst>
                    <a:ext uri="{9D8B030D-6E8A-4147-A177-3AD203B41FA5}">
                      <a16:colId xmlns:a16="http://schemas.microsoft.com/office/drawing/2014/main" val="20003"/>
                    </a:ext>
                  </a:extLst>
                </a:gridCol>
                <a:gridCol w="1167765">
                  <a:extLst>
                    <a:ext uri="{9D8B030D-6E8A-4147-A177-3AD203B41FA5}">
                      <a16:colId xmlns:a16="http://schemas.microsoft.com/office/drawing/2014/main" val="20004"/>
                    </a:ext>
                  </a:extLst>
                </a:gridCol>
              </a:tblGrid>
              <a:tr h="1405890">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S.No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Authors and Journal Name&amp; Year of publication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Problem Statement /Title</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Name of the Proposed solution/Method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Accuracy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extLst>
                  <a:ext uri="{0D108BD9-81ED-4DB2-BD59-A6C34878D82A}">
                    <a16:rowId xmlns:a16="http://schemas.microsoft.com/office/drawing/2014/main" val="10000"/>
                  </a:ext>
                </a:extLst>
              </a:tr>
              <a:tr h="1116330">
                <a:tc>
                  <a:txBody>
                    <a:bodyPr/>
                    <a:lstStyle/>
                    <a:p>
                      <a:pPr>
                        <a:spcBef>
                          <a:spcPts val="0"/>
                        </a:spcBef>
                        <a:spcAft>
                          <a:spcPts val="0"/>
                        </a:spcAft>
                      </a:pPr>
                      <a:r>
                        <a:rPr lang="en-US" sz="1900" cap="none" spc="0" dirty="0">
                          <a:solidFill>
                            <a:schemeClr val="tx1"/>
                          </a:solidFill>
                          <a:effectLst/>
                          <a:latin typeface="Arial" panose="020B0604020202020204"/>
                          <a:ea typeface="DejaVu Sans"/>
                          <a:cs typeface="DejaVu Sans"/>
                        </a:rPr>
                        <a:t>1 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sonal Naikwade,</a:t>
                      </a:r>
                    </a:p>
                    <a:p>
                      <a:pPr>
                        <a:spcBef>
                          <a:spcPts val="0"/>
                        </a:spcBef>
                        <a:spcAft>
                          <a:spcPts val="0"/>
                        </a:spcAft>
                      </a:pPr>
                      <a:r>
                        <a:rPr lang="en-IN" sz="1900" cap="none" spc="0" dirty="0">
                          <a:solidFill>
                            <a:schemeClr val="tx1"/>
                          </a:solidFill>
                          <a:effectLst/>
                          <a:latin typeface="Arial" panose="020B0604020202020204"/>
                          <a:ea typeface="DejaVu Sans"/>
                          <a:cs typeface="DejaVu Sans"/>
                        </a:rPr>
                        <a:t>yogita dange</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Disease Prediction of pomegranate using data mining</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SVM,SVM</a:t>
                      </a:r>
                    </a:p>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classifier</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96.57</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001"/>
                  </a:ext>
                </a:extLst>
              </a:tr>
              <a:tr h="1405890">
                <a:tc>
                  <a:txBody>
                    <a:bodyPr/>
                    <a:lstStyle/>
                    <a:p>
                      <a:pPr>
                        <a:spcBef>
                          <a:spcPts val="0"/>
                        </a:spcBef>
                        <a:spcAft>
                          <a:spcPts val="0"/>
                        </a:spcAft>
                      </a:pPr>
                      <a:r>
                        <a:rPr lang="en-US" sz="1900" cap="none" spc="0" dirty="0">
                          <a:solidFill>
                            <a:schemeClr val="tx1"/>
                          </a:solidFill>
                          <a:effectLst/>
                          <a:latin typeface="Arial" panose="020B0604020202020204"/>
                          <a:ea typeface="DejaVu Sans"/>
                          <a:cs typeface="DejaVu Sans"/>
                        </a:rPr>
                        <a:t>2 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M T Vasumathi ,</a:t>
                      </a:r>
                    </a:p>
                    <a:p>
                      <a:pPr>
                        <a:spcBef>
                          <a:spcPts val="0"/>
                        </a:spcBef>
                        <a:spcAft>
                          <a:spcPts val="0"/>
                        </a:spcAft>
                      </a:pPr>
                      <a:r>
                        <a:rPr lang="en-IN" sz="1900" cap="none" spc="0" dirty="0">
                          <a:solidFill>
                            <a:schemeClr val="tx1"/>
                          </a:solidFill>
                          <a:effectLst/>
                          <a:latin typeface="Arial" panose="020B0604020202020204"/>
                          <a:ea typeface="DejaVu Sans"/>
                          <a:cs typeface="DejaVu Sans"/>
                        </a:rPr>
                        <a:t>M Kamarasan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lvl="0">
                        <a:spcBef>
                          <a:spcPts val="0"/>
                        </a:spcBef>
                        <a:spcAft>
                          <a:spcPts val="0"/>
                        </a:spcAft>
                        <a:buNone/>
                      </a:pPr>
                      <a:r>
                        <a:rPr lang="en-IN" sz="1900" cap="none" spc="0" dirty="0">
                          <a:solidFill>
                            <a:schemeClr val="tx1"/>
                          </a:solidFill>
                          <a:effectLst/>
                          <a:latin typeface="Arial" panose="020B0604020202020204"/>
                          <a:ea typeface="DejaVu Sans"/>
                          <a:cs typeface="DejaVu Sans"/>
                        </a:rPr>
                        <a:t>Pomegranate fruit classification based on CNN-LSTM Deep Learning models</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CNN,LSTM,</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98.17</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extLst>
                  <a:ext uri="{0D108BD9-81ED-4DB2-BD59-A6C34878D82A}">
                    <a16:rowId xmlns:a16="http://schemas.microsoft.com/office/drawing/2014/main" val="10002"/>
                  </a:ext>
                </a:extLst>
              </a:tr>
              <a:tr h="1116330">
                <a:tc>
                  <a:txBody>
                    <a:bodyPr/>
                    <a:lstStyle/>
                    <a:p>
                      <a:pPr>
                        <a:spcBef>
                          <a:spcPts val="0"/>
                        </a:spcBef>
                        <a:spcAft>
                          <a:spcPts val="0"/>
                        </a:spcAft>
                      </a:pPr>
                      <a:r>
                        <a:rPr lang="en-US" sz="1900" cap="none" spc="0" dirty="0">
                          <a:solidFill>
                            <a:schemeClr val="tx1"/>
                          </a:solidFill>
                          <a:effectLst/>
                          <a:latin typeface="Arial" panose="020B0604020202020204"/>
                          <a:ea typeface="DejaVu Sans"/>
                          <a:cs typeface="DejaVu Sans"/>
                        </a:rPr>
                        <a:t>3 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Sumon ahmed,</a:t>
                      </a:r>
                    </a:p>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Tahsin Rahman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Fruits classification and detection application using deep learning</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98.0</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003"/>
                  </a:ext>
                </a:extLst>
              </a:tr>
              <a:tr h="1116330">
                <a:tc>
                  <a:txBody>
                    <a:bodyPr/>
                    <a:lstStyle/>
                    <a:p>
                      <a:pPr>
                        <a:spcBef>
                          <a:spcPts val="0"/>
                        </a:spcBef>
                        <a:spcAft>
                          <a:spcPts val="0"/>
                        </a:spcAft>
                      </a:pPr>
                      <a:r>
                        <a:rPr lang="en-US" sz="1900" cap="none" spc="0" dirty="0">
                          <a:solidFill>
                            <a:schemeClr val="tx1"/>
                          </a:solidFill>
                          <a:effectLst/>
                          <a:latin typeface="Arial" panose="020B0604020202020204"/>
                          <a:ea typeface="DejaVu Sans"/>
                          <a:cs typeface="DejaVu Sans"/>
                        </a:rPr>
                        <a:t>4 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D.Deshmukh,</a:t>
                      </a:r>
                    </a:p>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Sheetal Rathi</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Fruit disease prediction and prevention using deep learning</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0.53</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extLst>
                  <a:ext uri="{0D108BD9-81ED-4DB2-BD59-A6C34878D82A}">
                    <a16:rowId xmlns:a16="http://schemas.microsoft.com/office/drawing/2014/main" val="10004"/>
                  </a:ext>
                </a:extLst>
              </a:tr>
            </a:tbl>
          </a:graphicData>
        </a:graphic>
      </p:graphicFrame>
      <p:sp>
        <p:nvSpPr>
          <p:cNvPr id="4" name="Text Box 3"/>
          <p:cNvSpPr txBox="1"/>
          <p:nvPr/>
        </p:nvSpPr>
        <p:spPr>
          <a:xfrm>
            <a:off x="346075" y="155575"/>
            <a:ext cx="6595745" cy="528320"/>
          </a:xfrm>
          <a:prstGeom prst="rect">
            <a:avLst/>
          </a:prstGeom>
          <a:noFill/>
        </p:spPr>
        <p:txBody>
          <a:bodyPr wrap="square" rtlCol="0" anchor="t">
            <a:noAutofit/>
          </a:bodyPr>
          <a:lstStyle/>
          <a:p>
            <a:pPr>
              <a:lnSpc>
                <a:spcPct val="90000"/>
              </a:lnSpc>
              <a:spcBef>
                <a:spcPct val="0"/>
              </a:spcBef>
              <a:spcAft>
                <a:spcPts val="600"/>
              </a:spcAft>
            </a:pPr>
            <a:r>
              <a:rPr lang="en-US" sz="3600" dirty="0">
                <a:latin typeface="+mj-lt"/>
                <a:ea typeface="+mj-ea"/>
                <a:cs typeface="+mj-cs"/>
                <a:sym typeface="+mn-ea"/>
              </a:rPr>
              <a:t>Comparison chart from existing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56540" y="367665"/>
            <a:ext cx="8174990" cy="619760"/>
          </a:xfrm>
          <a:prstGeom prst="rect">
            <a:avLst/>
          </a:prstGeom>
          <a:noFill/>
        </p:spPr>
        <p:txBody>
          <a:bodyPr wrap="square" rtlCol="0" anchor="t">
            <a:noAutofit/>
          </a:bodyPr>
          <a:lstStyle/>
          <a:p>
            <a:r>
              <a:rPr lang="en-US" sz="3600" dirty="0">
                <a:latin typeface="+mj-lt"/>
                <a:ea typeface="+mj-ea"/>
                <a:cs typeface="+mj-cs"/>
                <a:sym typeface="+mn-ea"/>
              </a:rPr>
              <a:t>Comparison chart from existing</a:t>
            </a:r>
          </a:p>
        </p:txBody>
      </p:sp>
      <p:graphicFrame>
        <p:nvGraphicFramePr>
          <p:cNvPr id="5" name="Table 4"/>
          <p:cNvGraphicFramePr>
            <a:graphicFrameLocks noGrp="1"/>
          </p:cNvGraphicFramePr>
          <p:nvPr/>
        </p:nvGraphicFramePr>
        <p:xfrm>
          <a:off x="171450" y="182880"/>
          <a:ext cx="8836025" cy="6525895"/>
        </p:xfrm>
        <a:graphic>
          <a:graphicData uri="http://schemas.openxmlformats.org/drawingml/2006/table">
            <a:tbl>
              <a:tblPr firstRow="1" bandRow="1">
                <a:solidFill>
                  <a:schemeClr val="bg1"/>
                </a:solidFill>
                <a:tableStyleId>{5C22544A-7EE6-4342-B048-85BDC9FD1C3A}</a:tableStyleId>
              </a:tblPr>
              <a:tblGrid>
                <a:gridCol w="401938">
                  <a:extLst>
                    <a:ext uri="{9D8B030D-6E8A-4147-A177-3AD203B41FA5}">
                      <a16:colId xmlns:a16="http://schemas.microsoft.com/office/drawing/2014/main" val="20000"/>
                    </a:ext>
                  </a:extLst>
                </a:gridCol>
                <a:gridCol w="2534920">
                  <a:extLst>
                    <a:ext uri="{9D8B030D-6E8A-4147-A177-3AD203B41FA5}">
                      <a16:colId xmlns:a16="http://schemas.microsoft.com/office/drawing/2014/main" val="20001"/>
                    </a:ext>
                  </a:extLst>
                </a:gridCol>
                <a:gridCol w="2879725">
                  <a:extLst>
                    <a:ext uri="{9D8B030D-6E8A-4147-A177-3AD203B41FA5}">
                      <a16:colId xmlns:a16="http://schemas.microsoft.com/office/drawing/2014/main" val="20002"/>
                    </a:ext>
                  </a:extLst>
                </a:gridCol>
                <a:gridCol w="1746885">
                  <a:extLst>
                    <a:ext uri="{9D8B030D-6E8A-4147-A177-3AD203B41FA5}">
                      <a16:colId xmlns:a16="http://schemas.microsoft.com/office/drawing/2014/main" val="20003"/>
                    </a:ext>
                  </a:extLst>
                </a:gridCol>
                <a:gridCol w="1278890">
                  <a:extLst>
                    <a:ext uri="{9D8B030D-6E8A-4147-A177-3AD203B41FA5}">
                      <a16:colId xmlns:a16="http://schemas.microsoft.com/office/drawing/2014/main" val="20004"/>
                    </a:ext>
                  </a:extLst>
                </a:gridCol>
              </a:tblGrid>
              <a:tr h="1405890">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S.No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Authors and Journal Name&amp; Year of publication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Problem Statement /Title</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Name of the Proposed solution/Method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a:spcBef>
                          <a:spcPts val="0"/>
                        </a:spcBef>
                        <a:spcAft>
                          <a:spcPts val="0"/>
                        </a:spcAft>
                      </a:pPr>
                      <a:r>
                        <a:rPr lang="en-US" sz="1900" b="0" cap="none" spc="0" dirty="0">
                          <a:solidFill>
                            <a:schemeClr val="bg1"/>
                          </a:solidFill>
                          <a:effectLst/>
                          <a:latin typeface="Times New Roman" panose="02020603050405020304"/>
                          <a:ea typeface="DejaVu Sans"/>
                          <a:cs typeface="Times New Roman" panose="02020603050405020304"/>
                        </a:rPr>
                        <a:t>Accuracy </a:t>
                      </a:r>
                      <a:endParaRPr lang="en-US" sz="1900" b="0" cap="none" spc="0" dirty="0">
                        <a:solidFill>
                          <a:schemeClr val="bg1"/>
                        </a:solidFill>
                        <a:effectLst/>
                      </a:endParaRPr>
                    </a:p>
                  </a:txBody>
                  <a:tcPr marL="160945" marR="215593" marT="123804" marB="12380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extLst>
                  <a:ext uri="{0D108BD9-81ED-4DB2-BD59-A6C34878D82A}">
                    <a16:rowId xmlns:a16="http://schemas.microsoft.com/office/drawing/2014/main" val="10000"/>
                  </a:ext>
                </a:extLst>
              </a:tr>
              <a:tr h="1116330">
                <a:tc>
                  <a:txBody>
                    <a:bodyPr/>
                    <a:lstStyle/>
                    <a:p>
                      <a:pPr>
                        <a:spcBef>
                          <a:spcPts val="0"/>
                        </a:spcBef>
                        <a:spcAft>
                          <a:spcPts val="0"/>
                        </a:spcAft>
                      </a:pPr>
                      <a:r>
                        <a:rPr lang="en-IN" altLang="en-US" sz="1900" cap="none" spc="0" dirty="0">
                          <a:solidFill>
                            <a:schemeClr val="tx1"/>
                          </a:solidFill>
                          <a:effectLst/>
                          <a:latin typeface="Arial" panose="020B0604020202020204"/>
                          <a:ea typeface="DejaVu Sans"/>
                          <a:cs typeface="DejaVu Sans"/>
                        </a:rPr>
                        <a:t>5</a:t>
                      </a:r>
                      <a:r>
                        <a:rPr lang="en-US" sz="1900" cap="none" spc="0" dirty="0">
                          <a:solidFill>
                            <a:schemeClr val="tx1"/>
                          </a:solidFill>
                          <a:effectLst/>
                          <a:latin typeface="Arial" panose="020B0604020202020204"/>
                          <a:ea typeface="DejaVu Sans"/>
                          <a:cs typeface="DejaVu Sans"/>
                        </a:rPr>
                        <a:t>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Riasat khan, </a:t>
                      </a:r>
                    </a:p>
                    <a:p>
                      <a:pPr>
                        <a:spcBef>
                          <a:spcPts val="0"/>
                        </a:spcBef>
                        <a:spcAft>
                          <a:spcPts val="0"/>
                        </a:spcAft>
                      </a:pPr>
                      <a:r>
                        <a:rPr lang="en-IN" sz="1900" cap="none" spc="0" dirty="0">
                          <a:solidFill>
                            <a:schemeClr val="tx1"/>
                          </a:solidFill>
                          <a:effectLst/>
                          <a:latin typeface="Arial" panose="020B0604020202020204"/>
                          <a:ea typeface="DejaVu Sans"/>
                          <a:cs typeface="DejaVu Sans"/>
                        </a:rPr>
                        <a:t>Nur-E-Aznin mimma</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Fruits detection Application using deep learning</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96.1</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001"/>
                  </a:ext>
                </a:extLst>
              </a:tr>
              <a:tr h="1405890">
                <a:tc>
                  <a:txBody>
                    <a:bodyPr/>
                    <a:lstStyle/>
                    <a:p>
                      <a:pPr>
                        <a:spcBef>
                          <a:spcPts val="0"/>
                        </a:spcBef>
                        <a:spcAft>
                          <a:spcPts val="0"/>
                        </a:spcAft>
                      </a:pPr>
                      <a:r>
                        <a:rPr lang="en-IN" altLang="en-US" sz="1900" cap="none" spc="0" dirty="0">
                          <a:solidFill>
                            <a:schemeClr val="tx1"/>
                          </a:solidFill>
                          <a:effectLst/>
                          <a:latin typeface="Arial" panose="020B0604020202020204"/>
                          <a:ea typeface="DejaVu Sans"/>
                          <a:cs typeface="DejaVu Sans"/>
                        </a:rPr>
                        <a:t>6</a:t>
                      </a:r>
                      <a:r>
                        <a:rPr lang="en-US" sz="1900" cap="none" spc="0" dirty="0">
                          <a:solidFill>
                            <a:schemeClr val="tx1"/>
                          </a:solidFill>
                          <a:effectLst/>
                          <a:latin typeface="Arial" panose="020B0604020202020204"/>
                          <a:ea typeface="DejaVu Sans"/>
                          <a:cs typeface="DejaVu Sans"/>
                        </a:rPr>
                        <a:t>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V.Sathya,H.Rafidha</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lvl="0">
                        <a:spcBef>
                          <a:spcPts val="0"/>
                        </a:spcBef>
                        <a:spcAft>
                          <a:spcPts val="0"/>
                        </a:spcAft>
                        <a:buNone/>
                      </a:pPr>
                      <a:r>
                        <a:rPr lang="en-IN" sz="1900" cap="none" spc="0" dirty="0">
                          <a:solidFill>
                            <a:schemeClr val="tx1"/>
                          </a:solidFill>
                          <a:effectLst/>
                          <a:latin typeface="Arial" panose="020B0604020202020204"/>
                          <a:ea typeface="DejaVu Sans"/>
                          <a:cs typeface="DejaVu Sans"/>
                        </a:rPr>
                        <a:t>Fruit and leaves disease prediction using deep learning</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SVM</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98.17</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extLst>
                  <a:ext uri="{0D108BD9-81ED-4DB2-BD59-A6C34878D82A}">
                    <a16:rowId xmlns:a16="http://schemas.microsoft.com/office/drawing/2014/main" val="10002"/>
                  </a:ext>
                </a:extLst>
              </a:tr>
              <a:tr h="1405890">
                <a:tc>
                  <a:txBody>
                    <a:bodyPr/>
                    <a:lstStyle/>
                    <a:p>
                      <a:pPr>
                        <a:spcBef>
                          <a:spcPts val="0"/>
                        </a:spcBef>
                        <a:spcAft>
                          <a:spcPts val="0"/>
                        </a:spcAft>
                      </a:pPr>
                      <a:r>
                        <a:rPr lang="en-IN" altLang="en-US" sz="1900" cap="none" spc="0" dirty="0">
                          <a:solidFill>
                            <a:schemeClr val="tx1"/>
                          </a:solidFill>
                          <a:effectLst/>
                          <a:latin typeface="Arial" panose="020B0604020202020204"/>
                          <a:ea typeface="DejaVu Sans"/>
                          <a:cs typeface="DejaVu Sans"/>
                        </a:rPr>
                        <a:t>7</a:t>
                      </a:r>
                      <a:r>
                        <a:rPr lang="en-US" sz="1900" cap="none" spc="0" dirty="0">
                          <a:solidFill>
                            <a:schemeClr val="tx1"/>
                          </a:solidFill>
                          <a:effectLst/>
                          <a:latin typeface="Arial" panose="020B0604020202020204"/>
                          <a:ea typeface="DejaVu Sans"/>
                          <a:cs typeface="DejaVu Sans"/>
                        </a:rPr>
                        <a:t>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Prakhar Bansal,</a:t>
                      </a:r>
                    </a:p>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Rahul Kumar</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Disease detectionin apple leaves using deep 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a:ea typeface="DejaVu Sans"/>
                          <a:cs typeface="DejaVu Sans"/>
                        </a:rPr>
                        <a:t>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96.25</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003"/>
                  </a:ext>
                </a:extLst>
              </a:tr>
              <a:tr h="1191895">
                <a:tc>
                  <a:txBody>
                    <a:bodyPr/>
                    <a:lstStyle/>
                    <a:p>
                      <a:pPr>
                        <a:spcBef>
                          <a:spcPts val="0"/>
                        </a:spcBef>
                        <a:spcAft>
                          <a:spcPts val="0"/>
                        </a:spcAft>
                      </a:pPr>
                      <a:r>
                        <a:rPr lang="en-IN" altLang="en-US" sz="1900" cap="none" spc="0" dirty="0">
                          <a:solidFill>
                            <a:schemeClr val="tx1"/>
                          </a:solidFill>
                          <a:effectLst/>
                          <a:latin typeface="Arial" panose="020B0604020202020204"/>
                          <a:ea typeface="DejaVu Sans"/>
                          <a:cs typeface="DejaVu Sans"/>
                        </a:rPr>
                        <a:t>8</a:t>
                      </a:r>
                      <a:r>
                        <a:rPr lang="en-US" sz="1900" cap="none" spc="0" dirty="0">
                          <a:solidFill>
                            <a:schemeClr val="tx1"/>
                          </a:solidFill>
                          <a:effectLst/>
                          <a:latin typeface="Arial" panose="020B0604020202020204"/>
                          <a:ea typeface="DejaVu Sans"/>
                          <a:cs typeface="DejaVu Sans"/>
                        </a:rPr>
                        <a:t> </a:t>
                      </a:r>
                      <a:endParaRPr lang="en-US" sz="1900" cap="none" spc="0" dirty="0">
                        <a:solidFill>
                          <a:schemeClr val="tx1"/>
                        </a:solidFill>
                        <a:effectLst/>
                      </a:endParaRPr>
                    </a:p>
                  </a:txBody>
                  <a:tcPr marL="160945" marR="215593" marT="123804" marB="12380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Sharada P.Mohanty, </a:t>
                      </a:r>
                    </a:p>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David P.Hughes</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Using deep learning for image plant disease detection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CNN</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tc>
                  <a:txBody>
                    <a:bodyPr/>
                    <a:lstStyle/>
                    <a:p>
                      <a:pPr>
                        <a:spcBef>
                          <a:spcPts val="0"/>
                        </a:spcBef>
                        <a:spcAft>
                          <a:spcPts val="0"/>
                        </a:spcAft>
                      </a:pPr>
                      <a:r>
                        <a:rPr lang="en-IN" sz="1900" cap="none" spc="0" dirty="0">
                          <a:solidFill>
                            <a:schemeClr val="tx1"/>
                          </a:solidFill>
                          <a:effectLst/>
                          <a:latin typeface="Arial" panose="020B0604020202020204" pitchFamily="34" charset="0"/>
                          <a:ea typeface="DejaVu Sans"/>
                          <a:cs typeface="DejaVu Sans"/>
                        </a:rPr>
                        <a:t>99.35</a:t>
                      </a:r>
                    </a:p>
                  </a:txBody>
                  <a:tcPr marL="160945" marR="215593" marT="123804" marB="12380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solidFill>
                      <a:schemeClr val="bg1">
                        <a:lumMod val="85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457200"/>
            <a:ext cx="35814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Research objective</a:t>
            </a:r>
          </a:p>
        </p:txBody>
      </p:sp>
      <p:sp>
        <p:nvSpPr>
          <p:cNvPr id="3" name="TextBox 2"/>
          <p:cNvSpPr txBox="1"/>
          <p:nvPr/>
        </p:nvSpPr>
        <p:spPr>
          <a:xfrm>
            <a:off x="762000" y="1524000"/>
            <a:ext cx="8076360" cy="2951064"/>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To identify the disease in the fruit based on training and testing</a:t>
            </a:r>
            <a:endParaRPr lang="en-IN" dirty="0">
              <a:effectLst/>
              <a:latin typeface="+mj-lt"/>
              <a:ea typeface="Times New Roman" panose="02020603050405020304" pitchFamily="18" charset="0"/>
            </a:endParaRPr>
          </a:p>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To identify the type of disease </a:t>
            </a:r>
            <a:endParaRPr lang="en-IN" dirty="0">
              <a:effectLst/>
              <a:latin typeface="+mj-lt"/>
              <a:ea typeface="Times New Roman" panose="02020603050405020304" pitchFamily="18" charset="0"/>
            </a:endParaRPr>
          </a:p>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To notify the farmers so that early actions can be taken</a:t>
            </a:r>
            <a:endParaRPr lang="en-IN" dirty="0">
              <a:effectLst/>
              <a:latin typeface="+mj-lt"/>
              <a:ea typeface="Times New Roman" panose="02020603050405020304" pitchFamily="18" charset="0"/>
            </a:endParaRPr>
          </a:p>
          <a:p>
            <a:pPr marL="342900" lvl="0" indent="-342900" algn="just">
              <a:lnSpc>
                <a:spcPct val="150000"/>
              </a:lnSpc>
              <a:buFont typeface="Wingdings" panose="05000000000000000000" pitchFamily="2" charset="2"/>
              <a:buChar char=""/>
              <a:tabLst>
                <a:tab pos="457200" algn="l"/>
              </a:tabLst>
            </a:pPr>
            <a:r>
              <a:rPr lang="en-IN" dirty="0">
                <a:effectLst/>
                <a:latin typeface="+mj-lt"/>
                <a:ea typeface="Times New Roman" panose="02020603050405020304" pitchFamily="18" charset="0"/>
              </a:rPr>
              <a:t>Create database of insecticides for respective disease.</a:t>
            </a:r>
          </a:p>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Apply CNN algorithm to data set and generate model for prediction. </a:t>
            </a:r>
            <a:endParaRPr lang="en-IN" dirty="0">
              <a:effectLst/>
              <a:latin typeface="+mj-lt"/>
              <a:ea typeface="Times New Roman" panose="02020603050405020304" pitchFamily="18" charset="0"/>
            </a:endParaRPr>
          </a:p>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 </a:t>
            </a:r>
            <a:r>
              <a:rPr lang="en-US" dirty="0">
                <a:latin typeface="+mj-lt"/>
                <a:ea typeface="Times New Roman" panose="02020603050405020304" pitchFamily="18" charset="0"/>
              </a:rPr>
              <a:t>Predict</a:t>
            </a:r>
            <a:r>
              <a:rPr lang="en-US" dirty="0">
                <a:effectLst/>
                <a:latin typeface="+mj-lt"/>
                <a:ea typeface="Times New Roman" panose="02020603050405020304" pitchFamily="18" charset="0"/>
              </a:rPr>
              <a:t> fruit disease from given input image and display disease.</a:t>
            </a:r>
            <a:endParaRPr lang="en-IN" dirty="0">
              <a:effectLst/>
              <a:latin typeface="+mj-lt"/>
              <a:ea typeface="Times New Roman" panose="02020603050405020304" pitchFamily="18" charset="0"/>
            </a:endParaRPr>
          </a:p>
          <a:p>
            <a:pPr marL="342900" lvl="0" indent="-342900" algn="just">
              <a:lnSpc>
                <a:spcPct val="150000"/>
              </a:lnSpc>
              <a:buFont typeface="Wingdings" panose="05000000000000000000" pitchFamily="2" charset="2"/>
              <a:buChar char=""/>
              <a:tabLst>
                <a:tab pos="457200" algn="l"/>
              </a:tabLst>
            </a:pPr>
            <a:r>
              <a:rPr lang="en-US" dirty="0">
                <a:effectLst/>
                <a:latin typeface="+mj-lt"/>
                <a:ea typeface="Times New Roman" panose="02020603050405020304" pitchFamily="18" charset="0"/>
              </a:rPr>
              <a:t>To provide remedy for the disease that is </a:t>
            </a:r>
            <a:r>
              <a:rPr lang="en-US" dirty="0">
                <a:latin typeface="+mj-lt"/>
                <a:ea typeface="Times New Roman" panose="02020603050405020304" pitchFamily="18" charset="0"/>
              </a:rPr>
              <a:t>predicted</a:t>
            </a:r>
            <a:r>
              <a:rPr lang="en-US" sz="1800" dirty="0">
                <a:effectLst/>
                <a:latin typeface="+mj-lt"/>
                <a:ea typeface="Times New Roman" panose="02020603050405020304" pitchFamily="18" charset="0"/>
              </a:rPr>
              <a:t>.</a:t>
            </a:r>
            <a:endParaRPr lang="en-IN" sz="1600" dirty="0">
              <a:effectLst/>
              <a:latin typeface="+mj-lt"/>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2192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Problem Definition</a:t>
            </a:r>
          </a:p>
        </p:txBody>
      </p:sp>
      <p:sp>
        <p:nvSpPr>
          <p:cNvPr id="5" name="TextBox 4"/>
          <p:cNvSpPr txBox="1"/>
          <p:nvPr/>
        </p:nvSpPr>
        <p:spPr>
          <a:xfrm>
            <a:off x="762000" y="1751990"/>
            <a:ext cx="7924800" cy="1477328"/>
          </a:xfrm>
          <a:prstGeom prst="rect">
            <a:avLst/>
          </a:prstGeom>
          <a:noFill/>
        </p:spPr>
        <p:txBody>
          <a:bodyPr wrap="square">
            <a:spAutoFit/>
          </a:bodyPr>
          <a:lstStyle/>
          <a:p>
            <a:pPr algn="just"/>
            <a:r>
              <a:rPr lang="en-IN" dirty="0"/>
              <a:t>The problem is to develop a machine learning model for predicting diseases in pomegranate fruit based on various input features. Pomegranate is a popular fruit, but it is susceptible to various diseases and infections that can impact its quality and yield. Early detection and diagnosis of these diseases are crucial for effective disease management in pomegranate orchards.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85800" y="838200"/>
            <a:ext cx="7120890" cy="3876675"/>
          </a:xfrm>
          <a:prstGeom prst="rect">
            <a:avLst/>
          </a:prstGeom>
          <a:noFill/>
        </p:spPr>
        <p:txBody>
          <a:bodyPr wrap="square" rtlCol="0">
            <a:spAutoFit/>
          </a:bodyPr>
          <a:lstStyle/>
          <a:p>
            <a:r>
              <a:rPr lang="en-IN" altLang="en-US" sz="2800" dirty="0">
                <a:gradFill>
                  <a:gsLst>
                    <a:gs pos="0">
                      <a:srgbClr val="E30000"/>
                    </a:gs>
                    <a:gs pos="100000">
                      <a:srgbClr val="760303"/>
                    </a:gs>
                  </a:gsLst>
                  <a:lin scaled="0"/>
                </a:gradFill>
              </a:rPr>
              <a:t>CONCLUSION</a:t>
            </a:r>
          </a:p>
          <a:p>
            <a:endParaRPr lang="en-IN" altLang="en-US" sz="2800" dirty="0">
              <a:gradFill>
                <a:gsLst>
                  <a:gs pos="0">
                    <a:srgbClr val="E30000"/>
                  </a:gs>
                  <a:gs pos="100000">
                    <a:srgbClr val="760303"/>
                  </a:gs>
                </a:gsLst>
                <a:lin scaled="0"/>
              </a:gradFill>
            </a:endParaRPr>
          </a:p>
          <a:p>
            <a:endParaRPr lang="en-IN" altLang="en-US" sz="2800" dirty="0">
              <a:gradFill>
                <a:gsLst>
                  <a:gs pos="0">
                    <a:srgbClr val="E30000"/>
                  </a:gs>
                  <a:gs pos="100000">
                    <a:srgbClr val="760303"/>
                  </a:gs>
                </a:gsLst>
                <a:lin scaled="0"/>
              </a:gradFill>
            </a:endParaRPr>
          </a:p>
          <a:p>
            <a:pPr algn="just"/>
            <a:r>
              <a:rPr lang="en-IN" altLang="en-US" dirty="0">
                <a:solidFill>
                  <a:schemeClr val="tx1"/>
                </a:solidFill>
              </a:rPr>
              <a:t>From this proposed work, four diseases of mainly pomegranate plants can be classified and identified using digital image processing and neural network techniques. Bacterial Blight, Fruit Spot, Fruit Rot and Leaf Spot are diagnosed using the above technique. Experimental results showed good fruit and good leaf yield with almost 100%, leaf spot 87.50%, bacterial blight 85.71%, fruit spot and fruit rot 83.33%. The proposed work gives accurate and satisfactory results and 90% accuracy. Further, it helps in the import and export of fruit.</a:t>
            </a:r>
          </a:p>
        </p:txBody>
      </p:sp>
      <p:sp>
        <p:nvSpPr>
          <p:cNvPr id="5" name="CustomShape 1"/>
          <p:cNvSpPr/>
          <p:nvPr/>
        </p:nvSpPr>
        <p:spPr>
          <a:xfrm>
            <a:off x="381000" y="1371600"/>
            <a:ext cx="8381160" cy="75600"/>
          </a:xfrm>
          <a:prstGeom prst="rect">
            <a:avLst/>
          </a:prstGeom>
          <a:solidFill>
            <a:srgbClr val="7030A0"/>
          </a:solidFill>
          <a:ln w="25560">
            <a:solidFill>
              <a:srgbClr val="3A5F8B"/>
            </a:solidFill>
            <a:roun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74980" y="491490"/>
            <a:ext cx="7286625" cy="5692775"/>
          </a:xfrm>
          <a:prstGeom prst="rect">
            <a:avLst/>
          </a:prstGeom>
          <a:noFill/>
        </p:spPr>
        <p:txBody>
          <a:bodyPr wrap="square" rtlCol="0" anchor="t">
            <a:noAutofit/>
          </a:bodyPr>
          <a:lstStyle/>
          <a:p>
            <a:r>
              <a:rPr lang="en-IN" altLang="en-US" sz="2800" dirty="0">
                <a:gradFill>
                  <a:gsLst>
                    <a:gs pos="0">
                      <a:srgbClr val="E30000"/>
                    </a:gs>
                    <a:gs pos="100000">
                      <a:srgbClr val="760303"/>
                    </a:gs>
                  </a:gsLst>
                  <a:lin scaled="0"/>
                </a:gradFill>
                <a:sym typeface="+mn-ea"/>
              </a:rPr>
              <a:t>REFERENCES</a:t>
            </a:r>
          </a:p>
          <a:p>
            <a:endParaRPr lang="en-IN" altLang="en-US" sz="2800" dirty="0">
              <a:gradFill>
                <a:gsLst>
                  <a:gs pos="0">
                    <a:srgbClr val="E30000"/>
                  </a:gs>
                  <a:gs pos="100000">
                    <a:srgbClr val="760303"/>
                  </a:gs>
                </a:gsLst>
                <a:lin scaled="0"/>
              </a:gradFill>
              <a:sym typeface="+mn-ea"/>
            </a:endParaRPr>
          </a:p>
          <a:p>
            <a:endParaRPr lang="en-IN" altLang="en-US" dirty="0">
              <a:solidFill>
                <a:schemeClr val="tx1"/>
              </a:solidFill>
              <a:sym typeface="+mn-ea"/>
            </a:endParaRPr>
          </a:p>
          <a:p>
            <a:pPr algn="just"/>
            <a:r>
              <a:rPr lang="en-IN" altLang="en-US" dirty="0">
                <a:solidFill>
                  <a:schemeClr val="tx1"/>
                </a:solidFill>
                <a:latin typeface="+mj-lt"/>
                <a:cs typeface="+mj-lt"/>
                <a:sym typeface="+mn-ea"/>
              </a:rPr>
              <a:t>1) Kaur R, Kaushal S. Antimicrobial and antioxidant potential of pomegranate (Punica granatum L.) peel. International Journal of Chemical Studies . </a:t>
            </a:r>
          </a:p>
          <a:p>
            <a:pPr algn="just"/>
            <a:r>
              <a:rPr lang="en-IN" altLang="en-US" dirty="0">
                <a:solidFill>
                  <a:schemeClr val="tx1"/>
                </a:solidFill>
                <a:latin typeface="+mj-lt"/>
                <a:cs typeface="+mj-lt"/>
                <a:sym typeface="+mn-ea"/>
              </a:rPr>
              <a:t>2018;3441(3449). </a:t>
            </a:r>
          </a:p>
          <a:p>
            <a:pPr algn="just"/>
            <a:r>
              <a:rPr lang="en-IN" altLang="en-US" dirty="0">
                <a:solidFill>
                  <a:schemeClr val="tx1"/>
                </a:solidFill>
                <a:latin typeface="+mj-lt"/>
                <a:cs typeface="+mj-lt"/>
                <a:sym typeface="+mn-ea"/>
              </a:rPr>
              <a:t>2) Prajwal TM, </a:t>
            </a:r>
            <a:r>
              <a:rPr lang="en-IN" altLang="en-US" dirty="0" err="1">
                <a:solidFill>
                  <a:schemeClr val="tx1"/>
                </a:solidFill>
                <a:latin typeface="+mj-lt"/>
                <a:cs typeface="+mj-lt"/>
                <a:sym typeface="+mn-ea"/>
              </a:rPr>
              <a:t>Pranathi</a:t>
            </a:r>
            <a:r>
              <a:rPr lang="en-IN" altLang="en-US" dirty="0">
                <a:solidFill>
                  <a:schemeClr val="tx1"/>
                </a:solidFill>
                <a:latin typeface="+mj-lt"/>
                <a:cs typeface="+mj-lt"/>
                <a:sym typeface="+mn-ea"/>
              </a:rPr>
              <a:t> A, </a:t>
            </a:r>
            <a:r>
              <a:rPr lang="en-IN" altLang="en-US" dirty="0" err="1">
                <a:solidFill>
                  <a:schemeClr val="tx1"/>
                </a:solidFill>
                <a:latin typeface="+mj-lt"/>
                <a:cs typeface="+mj-lt"/>
                <a:sym typeface="+mn-ea"/>
              </a:rPr>
              <a:t>SaiAshritha</a:t>
            </a:r>
            <a:r>
              <a:rPr lang="en-IN" altLang="en-US" dirty="0">
                <a:solidFill>
                  <a:schemeClr val="tx1"/>
                </a:solidFill>
                <a:latin typeface="+mj-lt"/>
                <a:cs typeface="+mj-lt"/>
                <a:sym typeface="+mn-ea"/>
              </a:rPr>
              <a:t> K, </a:t>
            </a:r>
            <a:r>
              <a:rPr lang="en-IN" altLang="en-US" dirty="0" err="1">
                <a:solidFill>
                  <a:schemeClr val="tx1"/>
                </a:solidFill>
                <a:latin typeface="+mj-lt"/>
                <a:cs typeface="+mj-lt"/>
                <a:sym typeface="+mn-ea"/>
              </a:rPr>
              <a:t>Chittaragi</a:t>
            </a:r>
            <a:r>
              <a:rPr lang="en-IN" altLang="en-US" dirty="0">
                <a:solidFill>
                  <a:schemeClr val="tx1"/>
                </a:solidFill>
                <a:latin typeface="+mj-lt"/>
                <a:cs typeface="+mj-lt"/>
                <a:sym typeface="+mn-ea"/>
              </a:rPr>
              <a:t> NB, </a:t>
            </a:r>
            <a:r>
              <a:rPr lang="en-IN" altLang="en-US" dirty="0" err="1">
                <a:solidFill>
                  <a:schemeClr val="tx1"/>
                </a:solidFill>
                <a:latin typeface="+mj-lt"/>
                <a:cs typeface="+mj-lt"/>
                <a:sym typeface="+mn-ea"/>
              </a:rPr>
              <a:t>Koolagudi</a:t>
            </a:r>
            <a:r>
              <a:rPr lang="en-IN" altLang="en-US" dirty="0">
                <a:solidFill>
                  <a:schemeClr val="tx1"/>
                </a:solidFill>
                <a:latin typeface="+mj-lt"/>
                <a:cs typeface="+mj-lt"/>
                <a:sym typeface="+mn-ea"/>
              </a:rPr>
              <a:t> SG Tomato Leaf Disease Detection Using Convolutional Neural Networks. In: and </a:t>
            </a:r>
          </a:p>
          <a:p>
            <a:pPr algn="just"/>
            <a:r>
              <a:rPr lang="en-IN" altLang="en-US" dirty="0">
                <a:solidFill>
                  <a:schemeClr val="tx1"/>
                </a:solidFill>
                <a:latin typeface="+mj-lt"/>
                <a:cs typeface="+mj-lt"/>
                <a:sym typeface="+mn-ea"/>
              </a:rPr>
              <a:t>others, editor. 2018 Eleventh International Conference on Contemporary Computing (IC3). Noida. 2018;p. 1–5. doi:10.1109/IC3.2018.8530532. </a:t>
            </a:r>
          </a:p>
          <a:p>
            <a:pPr algn="just"/>
            <a:r>
              <a:rPr lang="en-IN" altLang="en-US" dirty="0">
                <a:solidFill>
                  <a:schemeClr val="tx1"/>
                </a:solidFill>
                <a:latin typeface="+mj-lt"/>
                <a:cs typeface="+mj-lt"/>
                <a:sym typeface="+mn-ea"/>
              </a:rPr>
              <a:t>3) </a:t>
            </a:r>
            <a:r>
              <a:rPr lang="en-IN" altLang="en-US" dirty="0" err="1">
                <a:solidFill>
                  <a:schemeClr val="tx1"/>
                </a:solidFill>
                <a:latin typeface="+mj-lt"/>
                <a:cs typeface="+mj-lt"/>
                <a:sym typeface="+mn-ea"/>
              </a:rPr>
              <a:t>Militante</a:t>
            </a:r>
            <a:r>
              <a:rPr lang="en-IN" altLang="en-US" dirty="0">
                <a:solidFill>
                  <a:schemeClr val="tx1"/>
                </a:solidFill>
                <a:latin typeface="+mj-lt"/>
                <a:cs typeface="+mj-lt"/>
                <a:sym typeface="+mn-ea"/>
              </a:rPr>
              <a:t> SV, Gerardo BD. Detecting Sugarcane Diseases through Adaptive Deep Learning Models of Convolutional Neural Network. </a:t>
            </a:r>
          </a:p>
          <a:p>
            <a:pPr algn="just"/>
            <a:r>
              <a:rPr lang="en-IN" altLang="en-US" dirty="0">
                <a:solidFill>
                  <a:schemeClr val="tx1"/>
                </a:solidFill>
                <a:latin typeface="+mj-lt"/>
                <a:cs typeface="+mj-lt"/>
                <a:sym typeface="+mn-ea"/>
              </a:rPr>
              <a:t>In: and others, editor. 2019 IEEE 6th International Conference on Engineering Technologies and Applied Sciences (ICETAS). 2019;p. 1–5.doi:10.1109/ICETAS48360.2019.9117332. </a:t>
            </a:r>
          </a:p>
        </p:txBody>
      </p:sp>
      <p:sp>
        <p:nvSpPr>
          <p:cNvPr id="5" name="CustomShape 1"/>
          <p:cNvSpPr/>
          <p:nvPr/>
        </p:nvSpPr>
        <p:spPr>
          <a:xfrm>
            <a:off x="381000" y="990600"/>
            <a:ext cx="8381160" cy="75600"/>
          </a:xfrm>
          <a:prstGeom prst="rect">
            <a:avLst/>
          </a:prstGeom>
          <a:solidFill>
            <a:srgbClr val="7030A0"/>
          </a:solidFill>
          <a:ln w="25560">
            <a:solidFill>
              <a:srgbClr val="3A5F8B"/>
            </a:solidFill>
            <a:round/>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972</Words>
  <Application>Microsoft Office PowerPoint</Application>
  <PresentationFormat>On-screen Show (4:3)</PresentationFormat>
  <Paragraphs>118</Paragraphs>
  <Slides>12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Black</vt:lpstr>
      <vt:lpstr>Calibri</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prathyusha reddy</cp:lastModifiedBy>
  <cp:revision>715</cp:revision>
  <dcterms:created xsi:type="dcterms:W3CDTF">2023-10-16T06:51:00Z</dcterms:created>
  <dcterms:modified xsi:type="dcterms:W3CDTF">2023-11-13T10:02:33Z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DEC38E73EA864E26823D106FDDE4DBB1_13</vt:lpwstr>
  </property>
  <property fmtid="{D5CDD505-2E9C-101B-9397-08002B2CF9AE}" pid="3" name="KSOProductBuildVer">
    <vt:lpwstr>1033-12.2.0.13215</vt:lpwstr>
  </property>
</Properties>
</file>